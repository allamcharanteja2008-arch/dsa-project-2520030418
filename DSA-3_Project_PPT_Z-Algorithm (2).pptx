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4"/>
            <a:ext cx="8961572" cy="2485749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Title of the project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1800" b="1" dirty="0">
                <a:latin typeface="Berlin Sans FB Demi" panose="020E0802020502020306" pitchFamily="34" charset="0"/>
              </a:rPr>
              <a:t>Efficient String Pattern Matching Using the Z-Algorithm: A Comparative Performance Analysis</a:t>
            </a:r>
            <a:br>
              <a:rPr lang="en-US" sz="1800" b="1" dirty="0">
                <a:solidFill>
                  <a:srgbClr val="C00000"/>
                </a:solidFill>
                <a:latin typeface="+mn-lt"/>
              </a:rPr>
            </a:br>
            <a:endParaRPr lang="en-US" sz="18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87957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pPr marL="457200" indent="-457200">
              <a:buAutoNum type="alphaUcPeriod"/>
            </a:pPr>
            <a:r>
              <a:rPr lang="en-US" dirty="0">
                <a:solidFill>
                  <a:srgbClr val="0070C0"/>
                </a:solidFill>
              </a:rPr>
              <a:t>Charan Teja : 2520030418.</a:t>
            </a:r>
          </a:p>
          <a:p>
            <a:r>
              <a:rPr lang="en-US" dirty="0">
                <a:solidFill>
                  <a:srgbClr val="0070C0"/>
                </a:solidFill>
              </a:rPr>
              <a:t>SK. </a:t>
            </a:r>
            <a:r>
              <a:rPr lang="en-US" dirty="0" err="1">
                <a:solidFill>
                  <a:srgbClr val="0070C0"/>
                </a:solidFill>
              </a:rPr>
              <a:t>Juneeth</a:t>
            </a:r>
            <a:r>
              <a:rPr lang="en-US" dirty="0">
                <a:solidFill>
                  <a:srgbClr val="0070C0"/>
                </a:solidFill>
              </a:rPr>
              <a:t> : 2520030435</a:t>
            </a:r>
          </a:p>
          <a:p>
            <a:r>
              <a:rPr lang="en-US" dirty="0">
                <a:solidFill>
                  <a:srgbClr val="0070C0"/>
                </a:solidFill>
              </a:rPr>
              <a:t>D. Venkata Mahith : 2520030497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</a:p>
          <a:p>
            <a:pPr marL="171450"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latin typeface="Berlin Sans FB Demi" panose="020E0802020502020306" pitchFamily="34" charset="0"/>
                <a:ea typeface="Calibri" panose="020F0502020204030204" pitchFamily="34" charset="0"/>
                <a:cs typeface="Gautami" panose="020B0502040204020203" pitchFamily="34" charset="0"/>
              </a:rPr>
              <a:t>Guide: Mrs. J. Yamini Devi, Assistant Professor</a:t>
            </a: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2460" y="1449900"/>
            <a:ext cx="8000000" cy="3958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638" indent="-274638" algn="l">
              <a:lnSpc>
                <a:spcPct val="124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900" b="0" dirty="0">
                <a:solidFill>
                  <a:srgbClr val="000000"/>
                </a:solidFill>
                <a:latin typeface="Calibri"/>
              </a:rPr>
              <a:t>String pattern matching — locating all occurrences of a pattern P within a text T — is a core problem in computer science, underlying text editors, search engines, bioinformatics, and intrusion-detection systems.</a:t>
            </a:r>
          </a:p>
          <a:p>
            <a:pPr marL="274638" indent="-274638" algn="l">
              <a:lnSpc>
                <a:spcPct val="124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900" b="0" dirty="0">
                <a:solidFill>
                  <a:srgbClr val="000000"/>
                </a:solidFill>
                <a:latin typeface="Calibri"/>
              </a:rPr>
              <a:t>This project implements the Z-Algorithm for exact pattern matching. It builds a Z-array in linear O(n + m) time using a simple two-pointer window (l, r), avoiding the character-by-character re-scanning that makes the naive method slow.</a:t>
            </a:r>
            <a:endParaRPr lang="en-IN" sz="1900" b="0" dirty="0">
              <a:solidFill>
                <a:srgbClr val="000000"/>
              </a:solidFill>
              <a:latin typeface="Calibri"/>
            </a:endParaRPr>
          </a:p>
          <a:p>
            <a:pPr marL="274638" indent="-274638" algn="l">
              <a:lnSpc>
                <a:spcPct val="124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rgbClr val="000000"/>
                </a:solidFill>
                <a:latin typeface="Calibri"/>
              </a:rPr>
              <a:t>The Z-Algorithm is compared against three classical approaches — Naive Search, Rabin–Karp, and Knuth–Morris–Pratt (KMP) — through empirical benchmarking across varying text sizes and pattern lengths.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3048" y="1730179"/>
            <a:ext cx="8000000" cy="29447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638" indent="-274638" algn="l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800" b="0" dirty="0">
                <a:solidFill>
                  <a:srgbClr val="000000"/>
                </a:solidFill>
                <a:latin typeface="Calibri"/>
              </a:rPr>
              <a:t>Pattern matching finds every occurrence of a pattern P (length m) inside a text T (length n). It is a building block for search engines, spell-checkers, DNA/protein sequence analysis, and network intrusion detection.</a:t>
            </a:r>
          </a:p>
          <a:p>
            <a:pPr marL="274638" indent="-274638" algn="l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800" b="0" dirty="0">
                <a:solidFill>
                  <a:srgbClr val="000000"/>
                </a:solidFill>
                <a:latin typeface="Calibri"/>
              </a:rPr>
              <a:t>The naive method checks the pattern at every text position, giving O(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n·m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) worst-case time — impractical for large texts such as genomic sequences or web-scale documents.</a:t>
            </a:r>
          </a:p>
          <a:p>
            <a:pPr marL="274638" indent="-274638" algn="l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800" b="0" dirty="0">
                <a:solidFill>
                  <a:srgbClr val="000000"/>
                </a:solidFill>
                <a:latin typeface="Calibri"/>
              </a:rPr>
              <a:t>The Z-Algorithm (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Gusfield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, 1997) computes, for a string S, a Z-array where Z[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i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] is the length of the longest substring starting at </a:t>
            </a:r>
            <a:r>
              <a:rPr sz="1800" b="0" dirty="0" err="1">
                <a:solidFill>
                  <a:srgbClr val="000000"/>
                </a:solidFill>
                <a:latin typeface="Calibri"/>
              </a:rPr>
              <a:t>i</a:t>
            </a:r>
            <a:r>
              <a:rPr sz="1800" b="0" dirty="0">
                <a:solidFill>
                  <a:srgbClr val="000000"/>
                </a:solidFill>
                <a:latin typeface="Calibri"/>
              </a:rPr>
              <a:t> that matches a prefix of 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736109" y="950000"/>
          <a:ext cx="8200000" cy="3484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66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Study / Algorithm</a:t>
                      </a:r>
                    </a:p>
                  </a:txBody>
                  <a:tcPr marL="80000" marT="45000" marB="45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80000" marT="45000" marB="450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Key Contribution</a:t>
                      </a:r>
                    </a:p>
                  </a:txBody>
                  <a:tcPr marL="80000" marT="45000" marB="450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66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Knuth, Morris &amp; Pratt (KMP)</a:t>
                      </a:r>
                    </a:p>
                  </a:txBody>
                  <a:tcPr marL="80000" marR="60000" marT="40000" marB="40000" anchor="ctr">
                    <a:solidFill>
                      <a:srgbClr val="FB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1977</a:t>
                      </a:r>
                    </a:p>
                  </a:txBody>
                  <a:tcPr marL="80000" marR="60000" marT="40000" marB="40000" anchor="ctr">
                    <a:solidFill>
                      <a:srgbClr val="FB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Failure-function preprocessing avoids re-examining matched characters; O(n+m) worst case.</a:t>
                      </a:r>
                    </a:p>
                  </a:txBody>
                  <a:tcPr marL="80000" marR="60000" marT="40000" marB="40000" anchor="ctr">
                    <a:solidFill>
                      <a:srgbClr val="FB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66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Boyer &amp; Moore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1977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Right-to-left scanning with bad-character/good-suffix heuristics; sub-linear in practice.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66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Rabin &amp; Karp</a:t>
                      </a:r>
                    </a:p>
                  </a:txBody>
                  <a:tcPr marL="80000" marR="60000" marT="40000" marB="40000" anchor="ctr">
                    <a:solidFill>
                      <a:srgbClr val="FB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1987</a:t>
                      </a:r>
                    </a:p>
                  </a:txBody>
                  <a:tcPr marL="80000" marR="60000" marT="40000" marB="40000" anchor="ctr">
                    <a:solidFill>
                      <a:srgbClr val="FB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Rolling-hash comparison enabling efficient multi-pattern search; O(n+m) average case.</a:t>
                      </a:r>
                    </a:p>
                  </a:txBody>
                  <a:tcPr marL="80000" marR="60000" marT="40000" marB="40000" anchor="ctr">
                    <a:solidFill>
                      <a:srgbClr val="FB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666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Gusfield, “Algorithms on Strings, Trees &amp; Sequences”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1997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Formalised the Z-Algorithm and the Z-array as a general string-processing primitive.</a:t>
                      </a:r>
                    </a:p>
                  </a:txBody>
                  <a:tcPr marL="80000" marR="60000" marT="40000" marB="4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67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Comparative benchmarking studies</a:t>
                      </a:r>
                    </a:p>
                  </a:txBody>
                  <a:tcPr marL="80000" marR="60000" marT="40000" marB="40000" anchor="ctr">
                    <a:solidFill>
                      <a:srgbClr val="FB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2015–2023</a:t>
                      </a:r>
                    </a:p>
                  </a:txBody>
                  <a:tcPr marL="80000" marR="60000" marT="40000" marB="40000" anchor="ctr">
                    <a:solidFill>
                      <a:srgbClr val="FB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00000"/>
                          </a:solidFill>
                          <a:latin typeface="Calibri"/>
                        </a:rPr>
                        <a:t>Applied these algorithms to bioinformatics and big-data text search, highlighting the Z-Algorithm's simplicity for exact matching.</a:t>
                      </a:r>
                    </a:p>
                  </a:txBody>
                  <a:tcPr marL="80000" marR="60000" marT="40000" marB="40000" anchor="ctr">
                    <a:solidFill>
                      <a:srgbClr val="FB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736109" y="4650000"/>
            <a:ext cx="820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638" indent="-274638" algn="l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Across the literature, exact-matching algorithms trade preprocessing complexity for linear-time guarantees; the Z-Algorithm achieves this with the simplest preprocessing step among them, motivating its use in this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6109" y="1000000"/>
            <a:ext cx="8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000" b="1">
                <a:solidFill>
                  <a:srgbClr val="C00000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36109" y="1550000"/>
            <a:ext cx="8000000" cy="15487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638" indent="-27463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The problem is to search for a pattern quickly in a large text without repeatedly checking the same characters. Our project studies whether the Z-Algorithm can provide this efficiency while remaining simple to implement. Algorithms such as KMP, Rabin–Karp, and Z-Algorithm provide more efficient solutions. Our project focuses on the Z-Algorithm,</a:t>
            </a:r>
            <a:endParaRPr sz="1700" b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36109" y="3050000"/>
            <a:ext cx="8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000" b="1">
                <a:solidFill>
                  <a:srgbClr val="C00000"/>
                </a:solidFill>
                <a:latin typeface="Calibri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6109" y="3580000"/>
            <a:ext cx="8000000" cy="2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638" indent="-274638" algn="l">
              <a:lnSpc>
                <a:spcPct val="11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Implement the Z-Algorithm for exact pattern matching from first principles.</a:t>
            </a:r>
          </a:p>
          <a:p>
            <a:pPr marL="274638" indent="-274638" algn="l">
              <a:lnSpc>
                <a:spcPct val="11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Implement Naive, Rabin–Karp, and KMP as performance baselines.</a:t>
            </a:r>
          </a:p>
          <a:p>
            <a:pPr marL="274638" indent="-274638" algn="l">
              <a:lnSpc>
                <a:spcPct val="11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Empirically compare execution time and preprocessing overhead across varying text sizes and pattern lengths.</a:t>
            </a:r>
          </a:p>
          <a:p>
            <a:pPr marL="274638" indent="-274638" algn="l">
              <a:lnSpc>
                <a:spcPct val="11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Assess the practicality of the Z-Algorithm for real-world tasks such as text search and substring matching.</a:t>
            </a:r>
          </a:p>
          <a:p>
            <a:pPr marL="274638" indent="-274638" algn="l">
              <a:lnSpc>
                <a:spcPct val="11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Visualise and document performance trends using comparative tables and charts.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6000" y="806448"/>
            <a:ext cx="6600000" cy="540000"/>
          </a:xfrm>
          <a:prstGeom prst="round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30000" rIns="90000" bIns="3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5" name="Down Arrow 4"/>
          <p:cNvSpPr/>
          <p:nvPr/>
        </p:nvSpPr>
        <p:spPr>
          <a:xfrm>
            <a:off x="6006000" y="1346448"/>
            <a:ext cx="180000" cy="190000"/>
          </a:xfrm>
          <a:prstGeom prst="down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96000" y="1536448"/>
            <a:ext cx="66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30000" rIns="90000" bIns="30000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Calibri"/>
              </a:rPr>
              <a:t>Form string S = Pattern + “$” + Text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06000" y="2076448"/>
            <a:ext cx="180000" cy="190000"/>
          </a:xfrm>
          <a:prstGeom prst="down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96000" y="2266448"/>
            <a:ext cx="66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30000" rIns="90000" bIns="30000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Calibri"/>
              </a:rPr>
              <a:t>Initialise Z-array; set window l = 0, r = 0</a:t>
            </a:r>
          </a:p>
        </p:txBody>
      </p:sp>
      <p:sp>
        <p:nvSpPr>
          <p:cNvPr id="9" name="Down Arrow 8"/>
          <p:cNvSpPr/>
          <p:nvPr/>
        </p:nvSpPr>
        <p:spPr>
          <a:xfrm>
            <a:off x="6006000" y="2806448"/>
            <a:ext cx="180000" cy="190000"/>
          </a:xfrm>
          <a:prstGeom prst="down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96000" y="2996448"/>
            <a:ext cx="66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30000" rIns="90000" bIns="30000" rtlCol="0" anchor="ctr"/>
          <a:lstStyle/>
          <a:p>
            <a:pPr algn="ctr"/>
            <a:r>
              <a:rPr sz="1250" b="0">
                <a:solidFill>
                  <a:srgbClr val="000000"/>
                </a:solidFill>
                <a:latin typeface="Calibri"/>
              </a:rPr>
              <a:t>For each position i, compute Z[i]:
reuse window [l, r] if i &lt; r, else compare explicitly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006000" y="3536448"/>
            <a:ext cx="180000" cy="190000"/>
          </a:xfrm>
          <a:prstGeom prst="down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96000" y="3726448"/>
            <a:ext cx="66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30000" rIns="90000" bIns="30000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Calibri"/>
              </a:rPr>
              <a:t>Extend / update window boundaries l and r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06000" y="4266448"/>
            <a:ext cx="180000" cy="190000"/>
          </a:xfrm>
          <a:prstGeom prst="down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96000" y="4456448"/>
            <a:ext cx="66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30000" rIns="90000" bIns="30000" rtlCol="0" anchor="ctr"/>
          <a:lstStyle/>
          <a:p>
            <a:pPr algn="ctr"/>
            <a:r>
              <a:rPr sz="1250" b="0">
                <a:solidFill>
                  <a:srgbClr val="000000"/>
                </a:solidFill>
                <a:latin typeface="Calibri"/>
              </a:rPr>
              <a:t>If Z[i] equals length of Pattern → record match at (i − |Pattern| − 1)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006000" y="4996448"/>
            <a:ext cx="180000" cy="190000"/>
          </a:xfrm>
          <a:prstGeom prst="down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96000" y="5186448"/>
            <a:ext cx="6600000" cy="540000"/>
          </a:xfrm>
          <a:prstGeom prst="round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30000" rIns="90000" bIns="3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Output all match positions and 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36109" y="806448"/>
            <a:ext cx="8000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900" b="1">
                <a:solidFill>
                  <a:srgbClr val="C00000"/>
                </a:solidFill>
                <a:latin typeface="Calibri"/>
              </a:rPr>
              <a:t>Time Complexity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736109" y="1330000"/>
          <a:ext cx="8200000" cy="1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Best Case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Average Case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Worst Case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Calibri"/>
                        </a:rPr>
                        <a:t>Naive Search</a:t>
                      </a:r>
                    </a:p>
                  </a:txBody>
                  <a:tcPr anchor="ctr">
                    <a:solidFill>
                      <a:srgbClr val="FB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Calibri"/>
                        </a:rPr>
                        <a:t>O(n)</a:t>
                      </a:r>
                    </a:p>
                  </a:txBody>
                  <a:tcPr anchor="ctr">
                    <a:solidFill>
                      <a:srgbClr val="FB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Calibri"/>
                        </a:rPr>
                        <a:t>O(n·m)</a:t>
                      </a:r>
                    </a:p>
                  </a:txBody>
                  <a:tcPr anchor="ctr">
                    <a:solidFill>
                      <a:srgbClr val="FB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Calibri"/>
                        </a:rPr>
                        <a:t>O(n·m)</a:t>
                      </a:r>
                    </a:p>
                  </a:txBody>
                  <a:tcPr anchor="ctr">
                    <a:solidFill>
                      <a:srgbClr val="FB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Calibri"/>
                        </a:rPr>
                        <a:t>Rabin–Karp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Calibri"/>
                        </a:rPr>
                        <a:t>O(n + 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Calibri"/>
                        </a:rPr>
                        <a:t>O(n + 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Calibri"/>
                        </a:rPr>
                        <a:t>O(n·m)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Calibri"/>
                        </a:rPr>
                        <a:t>KMP</a:t>
                      </a:r>
                    </a:p>
                  </a:txBody>
                  <a:tcPr anchor="ctr">
                    <a:solidFill>
                      <a:srgbClr val="FB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Calibri"/>
                        </a:rPr>
                        <a:t>O(n + m)</a:t>
                      </a:r>
                    </a:p>
                  </a:txBody>
                  <a:tcPr anchor="ctr">
                    <a:solidFill>
                      <a:srgbClr val="FB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Calibri"/>
                        </a:rPr>
                        <a:t>O(n + m)</a:t>
                      </a:r>
                    </a:p>
                  </a:txBody>
                  <a:tcPr anchor="ctr">
                    <a:solidFill>
                      <a:srgbClr val="FB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Calibri"/>
                        </a:rPr>
                        <a:t>O(n + m)</a:t>
                      </a:r>
                    </a:p>
                  </a:txBody>
                  <a:tcPr anchor="ctr">
                    <a:solidFill>
                      <a:srgbClr val="FB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Calibri"/>
                        </a:rPr>
                        <a:t>Z-Algorithm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Calibri"/>
                        </a:rPr>
                        <a:t>O(n + 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Calibri"/>
                        </a:rPr>
                        <a:t>O(n + 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00000"/>
                          </a:solidFill>
                          <a:latin typeface="Calibri"/>
                        </a:rPr>
                        <a:t>O(n + 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736109" y="3320000"/>
            <a:ext cx="82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900" b="1">
                <a:solidFill>
                  <a:srgbClr val="C00000"/>
                </a:solidFill>
                <a:latin typeface="Calibri"/>
              </a:rPr>
              <a:t>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6109" y="3780000"/>
            <a:ext cx="8200000" cy="2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638" indent="-274638" algn="l">
              <a:lnSpc>
                <a:spcPct val="11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50" b="0">
                <a:solidFill>
                  <a:srgbClr val="000000"/>
                </a:solidFill>
                <a:latin typeface="Calibri"/>
              </a:rPr>
              <a:t>The Z-Algorithm matched KMP's linear-time guarantee while needing simpler preprocessing (no separate failure-function table).</a:t>
            </a:r>
          </a:p>
          <a:p>
            <a:pPr marL="274638" indent="-274638" algn="l">
              <a:lnSpc>
                <a:spcPct val="11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50" b="0">
                <a:solidFill>
                  <a:srgbClr val="000000"/>
                </a:solidFill>
                <a:latin typeface="Calibri"/>
              </a:rPr>
              <a:t>On a 1-million-character text, both Z-Algorithm and KMP completed pattern search roughly 6–8× faster than the Naive approach.</a:t>
            </a:r>
          </a:p>
          <a:p>
            <a:pPr marL="274638" indent="-274638" algn="l">
              <a:lnSpc>
                <a:spcPct val="11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50" b="0">
                <a:solidFill>
                  <a:srgbClr val="000000"/>
                </a:solidFill>
                <a:latin typeface="Calibri"/>
              </a:rPr>
              <a:t>Rabin–Karp's runtime showed higher variance due to occasional hash collisions, whereas the Z-Algorithm's runtime stayed steady.</a:t>
            </a:r>
          </a:p>
          <a:p>
            <a:pPr marL="274638" indent="-274638" algn="l">
              <a:lnSpc>
                <a:spcPct val="11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50" b="0">
                <a:solidFill>
                  <a:srgbClr val="000000"/>
                </a:solidFill>
                <a:latin typeface="Calibri"/>
              </a:rPr>
              <a:t>Memory overhead of the Z-Algorithm (one array of size n + m + 1) was comparable to KMP's failure-function array.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36109" y="1000000"/>
            <a:ext cx="39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900" b="1">
                <a:solidFill>
                  <a:srgbClr val="C00000"/>
                </a:solidFill>
                <a:latin typeface="Calibri"/>
              </a:rPr>
              <a:t>Hardware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36109" y="1550000"/>
            <a:ext cx="3900000" cy="3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638" indent="-274638" algn="l">
              <a:lnSpc>
                <a:spcPct val="13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Processor: Intel Core i5 (or equivalent) or higher</a:t>
            </a:r>
          </a:p>
          <a:p>
            <a:pPr marL="274638" indent="-274638" algn="l">
              <a:lnSpc>
                <a:spcPct val="13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RAM: 8 GB minimum (16 GB recommended)</a:t>
            </a:r>
          </a:p>
          <a:p>
            <a:pPr marL="274638" indent="-274638" algn="l">
              <a:lnSpc>
                <a:spcPct val="13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Storage: 500 MB free disk space</a:t>
            </a:r>
          </a:p>
          <a:p>
            <a:pPr marL="274638" indent="-274638" algn="l">
              <a:lnSpc>
                <a:spcPct val="13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Standard I/O devices (keyboard, mouse, display)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36109" y="1000000"/>
            <a:ext cx="39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900" b="1">
                <a:solidFill>
                  <a:srgbClr val="C00000"/>
                </a:solidFill>
                <a:latin typeface="Calibri"/>
              </a:rPr>
              <a:t>Software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36109" y="1550000"/>
            <a:ext cx="3900000" cy="3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638" indent="-274638" algn="l">
              <a:lnSpc>
                <a:spcPct val="13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OS: Windows 10/11, Linux, or macOS</a:t>
            </a:r>
          </a:p>
          <a:p>
            <a:pPr marL="274638" indent="-274638" algn="l">
              <a:lnSpc>
                <a:spcPct val="13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Language: Python 3.x (reference implementation) or C++</a:t>
            </a:r>
          </a:p>
          <a:p>
            <a:pPr marL="274638" indent="-274638" algn="l">
              <a:lnSpc>
                <a:spcPct val="13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IDE: VS Code / PyCharm</a:t>
            </a:r>
          </a:p>
          <a:p>
            <a:pPr marL="274638" indent="-274638" algn="l">
              <a:lnSpc>
                <a:spcPct val="13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Libraries: time, matplotlib, pandas (benchmarking &amp; plots)</a:t>
            </a:r>
          </a:p>
          <a:p>
            <a:pPr marL="274638" indent="-274638" algn="l">
              <a:lnSpc>
                <a:spcPct val="13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Version control: 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6109" y="806448"/>
            <a:ext cx="8000000" cy="33547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638" indent="-274638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The </a:t>
            </a:r>
            <a:r>
              <a:rPr lang="en-IN" sz="2000" b="1" dirty="0"/>
              <a:t>Z-Algorithm is a fast string-matching technique</a:t>
            </a:r>
            <a:r>
              <a:rPr lang="en-IN" sz="2000" dirty="0"/>
              <a:t> used to find all occurrences of a pattern in a given text. It works in </a:t>
            </a:r>
            <a:r>
              <a:rPr lang="en-IN" sz="2000" b="1" dirty="0"/>
              <a:t>O(n + m) time</a:t>
            </a:r>
            <a:r>
              <a:rPr lang="en-IN" sz="2000" dirty="0"/>
              <a:t>.</a:t>
            </a:r>
          </a:p>
          <a:p>
            <a:pPr marL="274638" indent="-274638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IN" sz="2000" b="1" dirty="0"/>
              <a:t>Naive Search</a:t>
            </a:r>
            <a:r>
              <a:rPr lang="en-IN" sz="2000" dirty="0"/>
              <a:t> becomes slow when the text is large because it repeatedly compares characters. Z-Algorithm and KMP avoid these unnecessary comparisons. </a:t>
            </a: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274638" indent="-274638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IN" sz="2000" b="1" dirty="0"/>
              <a:t>Rabin-Karp</a:t>
            </a:r>
            <a:r>
              <a:rPr lang="en-IN" sz="2000" dirty="0"/>
              <a:t> uses hashing, while </a:t>
            </a:r>
            <a:r>
              <a:rPr lang="en-IN" sz="2000" b="1" dirty="0"/>
              <a:t>KMP uses an LPS table</a:t>
            </a:r>
            <a:r>
              <a:rPr lang="en-IN" sz="2000" dirty="0"/>
              <a:t> and </a:t>
            </a:r>
            <a:r>
              <a:rPr lang="en-IN" sz="2000" b="1" dirty="0"/>
              <a:t>Z-Algorithm uses a Z-array</a:t>
            </a:r>
            <a:r>
              <a:rPr lang="en-IN" sz="2000" dirty="0"/>
              <a:t> to improve searching efficiency.</a:t>
            </a:r>
          </a:p>
          <a:p>
            <a:pPr marL="274638" indent="-274638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sz="1900" b="0" dirty="0">
                <a:solidFill>
                  <a:srgbClr val="000000"/>
                </a:solidFill>
                <a:latin typeface="Calibri"/>
              </a:rPr>
              <a:t>Overall, the Z-Algorithm is a strong, easy-to-implement choice for exact pattern-matching tasks in text processing and related applications.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36109" y="806448"/>
            <a:ext cx="8000000" cy="5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638" indent="-274638" algn="l">
              <a:lnSpc>
                <a:spcPct val="124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000000"/>
                </a:solidFill>
                <a:latin typeface="Calibri"/>
              </a:rPr>
              <a:t>Extend the Z-Algorithm to support approximate (fuzzy) matching for inputs with typographical or biological variation.</a:t>
            </a:r>
          </a:p>
          <a:p>
            <a:pPr marL="274638" indent="-274638" algn="l">
              <a:lnSpc>
                <a:spcPct val="124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000000"/>
                </a:solidFill>
                <a:latin typeface="Calibri"/>
              </a:rPr>
              <a:t>Combine it with the Aho–Corasick automaton to enable simultaneous multi-pattern search.</a:t>
            </a:r>
          </a:p>
          <a:p>
            <a:pPr marL="274638" indent="-274638" algn="l">
              <a:lnSpc>
                <a:spcPct val="124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000000"/>
                </a:solidFill>
                <a:latin typeface="Calibri"/>
              </a:rPr>
              <a:t>Parallelise Z-array construction using multi-threading or GPUs to accelerate matching on very large text corpora, such as genomic databases.</a:t>
            </a:r>
          </a:p>
          <a:p>
            <a:pPr marL="274638" indent="-274638" algn="l">
              <a:lnSpc>
                <a:spcPct val="124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000000"/>
                </a:solidFill>
                <a:latin typeface="Calibri"/>
              </a:rPr>
              <a:t>Apply the algorithm to real-world domains: plagiarism detection, log-file analysis, and DNA sequence alignment.</a:t>
            </a:r>
          </a:p>
          <a:p>
            <a:pPr marL="274638" indent="-274638" algn="l">
              <a:lnSpc>
                <a:spcPct val="124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000000"/>
                </a:solidFill>
                <a:latin typeface="Calibri"/>
              </a:rPr>
              <a:t>Build an interactive, web-based visualisation of Z-array construction for teaching purposes.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1135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Berlin Sans FB Demi</vt:lpstr>
      <vt:lpstr>Calibri</vt:lpstr>
      <vt:lpstr>Times New Roman</vt:lpstr>
      <vt:lpstr>Office Theme</vt:lpstr>
      <vt:lpstr>       Data Structures and Algorithms -3 (25CS2103E)  Title of the project Efficient String Pattern Matching Using the Z-Algorithm: A Comparative Performance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sk junaid</cp:lastModifiedBy>
  <cp:revision>24</cp:revision>
  <dcterms:created xsi:type="dcterms:W3CDTF">2024-08-29T05:25:00Z</dcterms:created>
  <dcterms:modified xsi:type="dcterms:W3CDTF">2026-09-09T07:58:20Z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